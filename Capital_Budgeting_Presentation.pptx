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64592" cy="3291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D9488"/>
                </a:solidFill>
                <a:latin typeface="Helvetica"/>
              </a:defRPr>
            </a:pPr>
            <a:r>
              <a:t>FINANCIAL ENGINEERING FINAL END-SEMESTER DEFENSE  |  AI &amp; DATA SCIENCE</a:t>
            </a:r>
          </a:p>
          <a:p>
            <a:pPr>
              <a:spcAft>
                <a:spcPts val="1000"/>
              </a:spcAft>
              <a:defRPr sz="2800" b="1">
                <a:solidFill>
                  <a:srgbClr val="0F172A"/>
                </a:solidFill>
                <a:latin typeface="Helvetica"/>
              </a:defRPr>
            </a:pPr>
            <a:r>
              <a:t>Capital Budgeting, Infrastructure Project Valuation</a:t>
            </a:r>
            <a:br/>
            <a:r>
              <a:t>&amp; Clean Energy Portfolio Optimizer</a:t>
            </a:r>
          </a:p>
          <a:p>
            <a:pPr>
              <a:defRPr sz="1400">
                <a:solidFill>
                  <a:srgbClr val="2563EB"/>
                </a:solidFill>
                <a:latin typeface="Helvetica"/>
              </a:defRPr>
            </a:pPr>
            <a:r>
              <a:t>Multi-Stage DCF, Bank Loan DSCR, ESG Carbon Offsets, Monte Carlo Risk &amp; Markowitz Frontier (₹ INR)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728655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846320"/>
            <a:ext cx="101800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48B"/>
                </a:solidFill>
                <a:latin typeface="Helvetica"/>
              </a:defRPr>
            </a:pPr>
            <a:r>
              <a:t>PROJECT TEAM MEMBERS &amp; REGISTRATION DETAILS: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Helvetica"/>
              </a:defRPr>
            </a:pPr>
            <a:r>
              <a:t>•  KARTHICK RUBAN.T  —  CB.AI.U4AID23017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Helvetica"/>
              </a:defRPr>
            </a:pPr>
            <a:r>
              <a:t>•  SANJAY SENTHIL  —  CB.AI.U4AID23042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Helvetica"/>
              </a:defRPr>
            </a:pPr>
            <a:r>
              <a:t>•  HARI PRAKASH  —  CB.AI.U4AID23047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  <a:latin typeface="Helvetica"/>
              </a:defRPr>
            </a:pPr>
            <a:r>
              <a:t>•  VIGNESH  —  CB.AI.U4AID23057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Helvetica"/>
              </a:defRPr>
            </a:pPr>
            <a:r>
              <a:t>FINANCIAL ENGINEERING FINAL PROJECT</a:t>
            </a:r>
          </a:p>
          <a:p>
            <a:pPr>
              <a:defRPr sz="2500" b="1">
                <a:solidFill>
                  <a:srgbClr val="0F172A"/>
                </a:solidFill>
                <a:latin typeface="Helvetica"/>
              </a:defRPr>
            </a:pPr>
            <a:r>
              <a:t>The Real-World Dilemma: The ₹250 Crore Infrastructure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1. Heavy Capital Intensity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Building a 100MW Solar Park requires ₹250 Crores upfront on Day 1.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Over 70% of capital is borrowed from commercial banks requiring strict repayment.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A bad capital allocation decision destroys hundreds of crores in shareholder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2. Multi-Decade Uncertainty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Long 20 to 25 Year Concessions: Cash flows occur across changing economic cycles.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Tariff &amp; Cost Volatility: Energy auction prices shift and construction delays escalate costs.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The Core CFO Question: 'Will power revenues pay off bank debt, beat our 8% WACC, and remain solvent?'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28416" cy="4754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3. Complete Decision Suite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Analysis 1: Deterministic Multi-Stage DCF (NPV, IRR, LCOE, Payback).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Analysis 2: Bank Debt Amortization (DSCR &gt;= 1.30x) &amp; ESG Carbon Offsets.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Analysis 3: 5,000-Scenario Monte Carlo Risk Engine (95% VaR &amp; Sensitivity).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• Analysis 4: Markowitz Clean Energy Portfolio Optimizer (Efficient Frontier).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Helvetica"/>
              </a:defRPr>
            </a:pPr>
            <a:r>
              <a:t>FINANCIAL ENGINEERING FINAL PROJECT</a:t>
            </a:r>
          </a:p>
          <a:p>
            <a:pPr>
              <a:defRPr sz="2500" b="1">
                <a:solidFill>
                  <a:srgbClr val="0F172A"/>
                </a:solidFill>
                <a:latin typeface="Helvetica"/>
              </a:defRPr>
            </a:pPr>
            <a:r>
              <a:t>Public Dataset Architecture: 12 Clean Infrastructure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D9488"/>
                </a:solidFill>
              </a:defRPr>
            </a:pPr>
            <a:r>
              <a:t>DATA SOURCES: Kaggle / World Bank PPI Database, SECI Auction Tenders, MNRE Cost Benchmarks &amp; Global Clean Tech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24028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383280"/>
                <a:gridCol w="2011680"/>
                <a:gridCol w="3047695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Feature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Financial Definition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Baseline Value (INR)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Role in Valuation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CapEx_INR_Crores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Initial construction, land &amp; interconnection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₹ 250.0 Crores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Year 0 cash outflow ($I_0$)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Annual_Gen_MWh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Total annual energy generated (180M kWh)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180,000 MWh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Volume driver for annual power revenue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Base_Tariff_INR_kWh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Contracted PPA auction price per unit (kWh)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₹ 3.85 /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Unit price driver for annual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Project_Lifetime_Years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Operational concession duration of asset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20 Years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Discounting time horizon ($N$)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Annual_OpEx_Crores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Yearly maintenance, cleaning, labor &amp; grid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₹ 12.5 Crores/yr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Annual operational cash outflow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WACC_Percent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Weighted Average Cost of Capital (Hurdle Rate)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8.00%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Discount rate ($r$) for NPV discounting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Helvetica"/>
              </a:defRPr>
            </a:pPr>
            <a:r>
              <a:t>FINANCIAL ENGINEERING FINAL PROJECT</a:t>
            </a:r>
          </a:p>
          <a:p>
            <a:pPr>
              <a:defRPr sz="2500" b="1">
                <a:solidFill>
                  <a:srgbClr val="0F172A"/>
                </a:solidFill>
                <a:latin typeface="Helvetica"/>
              </a:defRPr>
            </a:pPr>
            <a:r>
              <a:t>Analysis 1: Core Formulations (Cash Flow, NPV &amp; IRR in 1 Sentence)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1. Annual Revenue Formula</a:t>
            </a:r>
          </a:p>
          <a:p>
            <a:pPr>
              <a:defRPr sz="950">
                <a:solidFill>
                  <a:srgbClr val="2563EB"/>
                </a:solidFill>
              </a:defRPr>
            </a:pPr>
            <a:r>
              <a:t>Formula: Revenue = Units of Power Generated × Price per Unit</a:t>
            </a:r>
          </a:p>
          <a:p>
            <a:pPr>
              <a:spcAft>
                <a:spcPts val="800"/>
              </a:spcAft>
              <a:defRPr sz="950" b="1">
                <a:solidFill>
                  <a:srgbClr val="334155"/>
                </a:solidFill>
              </a:defRPr>
            </a:pPr>
            <a:r>
              <a:t>💬 1-Sentence Meaning: 'This is simply the total money we earn in a year by multiplying the electricity units produced by the price the government pays us per unit.'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2. Annual Net Cash Flow (CF_t)</a:t>
            </a:r>
          </a:p>
          <a:p>
            <a:pPr>
              <a:defRPr sz="950">
                <a:solidFill>
                  <a:srgbClr val="2563EB"/>
                </a:solidFill>
              </a:defRPr>
            </a:pPr>
            <a:r>
              <a:t>Formula: CF_t = (Revenue_t - OpEx_t) × (1 - Tax Rate)</a:t>
            </a:r>
          </a:p>
          <a:p>
            <a:pPr>
              <a:spcAft>
                <a:spcPts val="800"/>
              </a:spcAft>
              <a:defRPr sz="950" b="1">
                <a:solidFill>
                  <a:srgbClr val="334155"/>
                </a:solidFill>
              </a:defRPr>
            </a:pPr>
            <a:r>
              <a:t>💬 1-Sentence Meaning: 'This is the actual take-home profit we keep in our bank account each year after paying maintenance expenses and government taxes.'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3. The Discounting Formula</a:t>
            </a:r>
          </a:p>
          <a:p>
            <a:pPr>
              <a:defRPr sz="950">
                <a:solidFill>
                  <a:srgbClr val="2563EB"/>
                </a:solidFill>
              </a:defRPr>
            </a:pPr>
            <a:r>
              <a:t>Formula: Discount Factor = 1 / (1 + Interest Rate)^t</a:t>
            </a:r>
          </a:p>
          <a:p>
            <a:pPr>
              <a:defRPr sz="950" b="1">
                <a:solidFill>
                  <a:srgbClr val="334155"/>
                </a:solidFill>
              </a:defRPr>
            </a:pPr>
            <a:r>
              <a:t>💬 1-Sentence Meaning: 'Because ₹100 today is worth more than ₹100 ten years from now, this formula shrinks future money back to what it is truly worth in today's pocket.'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563EB"/>
                </a:solidFill>
              </a:defRPr>
            </a:pPr>
            <a:r>
              <a:t>4. Net Present Value (NPV)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Formula: NPV = -Initial CapEx + Σ [ Future Cash Flows / (1+WACC)^t ]</a:t>
            </a:r>
          </a:p>
          <a:p>
            <a:pPr>
              <a:spcAft>
                <a:spcPts val="1000"/>
              </a:spcAft>
              <a:defRPr sz="950" b="1">
                <a:solidFill>
                  <a:srgbClr val="334155"/>
                </a:solidFill>
              </a:defRPr>
            </a:pPr>
            <a:r>
              <a:t>💬 1-Sentence Meaning: 'NPV tells us the exact extra wealth we create in today's money: if positive (+₹275 Cr), the project makes us rich; if negative, we lose money.'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5. Internal Rate of Return (IRR)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Formula: Rate where Total Discounted Cash Inflows = Initial CapEx</a:t>
            </a:r>
          </a:p>
          <a:p>
            <a:pPr>
              <a:defRPr sz="950" b="1">
                <a:solidFill>
                  <a:srgbClr val="334155"/>
                </a:solidFill>
              </a:defRPr>
            </a:pPr>
            <a:r>
              <a:t>💬 1-Sentence Meaning: 'IRR is simply the annual percentage profit rate generated by our project (18.5%), and as long as it is higher than our bank loan interest rate (8%), we make a handsome profit.'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Helvetica"/>
              </a:defRPr>
            </a:pPr>
            <a:r>
              <a:t>FINANCIAL ENGINEERING FINAL PROJECT</a:t>
            </a:r>
          </a:p>
          <a:p>
            <a:pPr>
              <a:defRPr sz="2500" b="1">
                <a:solidFill>
                  <a:srgbClr val="0F172A"/>
                </a:solidFill>
                <a:latin typeface="Helvetica"/>
              </a:defRPr>
            </a:pPr>
            <a:r>
              <a:t>Analysis 1: LCOE, Profitability Index &amp; 7-Year Payback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6. Levelized Cost of Energy (LCOE)</a:t>
            </a:r>
          </a:p>
          <a:p>
            <a:pPr>
              <a:defRPr sz="950">
                <a:solidFill>
                  <a:srgbClr val="2563EB"/>
                </a:solidFill>
              </a:defRPr>
            </a:pPr>
            <a:r>
              <a:t>Formula: LCOE = Total Lifetime Costs / Total Lifetime Units of Electricity</a:t>
            </a:r>
          </a:p>
          <a:p>
            <a:pPr>
              <a:spcAft>
                <a:spcPts val="1200"/>
              </a:spcAft>
              <a:defRPr sz="950" b="1">
                <a:solidFill>
                  <a:srgbClr val="334155"/>
                </a:solidFill>
              </a:defRPr>
            </a:pPr>
            <a:r>
              <a:t>💬 1-Sentence Meaning: 'LCOE is our exact production cost per unit of power (₹1.99/unit): selling power above this cost (₹3.85/unit) guarantees a +₹1.86/unit profit margin.'</a:t>
            </a:r>
          </a:p>
          <a:p>
            <a:pPr>
              <a:defRPr b="1" sz="1300">
                <a:solidFill>
                  <a:srgbClr val="0F172A"/>
                </a:solidFill>
              </a:defRPr>
            </a:pPr>
            <a:r>
              <a:t>7. Profitability Index (PI)</a:t>
            </a:r>
          </a:p>
          <a:p>
            <a:pPr>
              <a:defRPr sz="950">
                <a:solidFill>
                  <a:srgbClr val="2563EB"/>
                </a:solidFill>
              </a:defRPr>
            </a:pPr>
            <a:r>
              <a:t>Formula: PI = Total Future Present Value Created / Initial CapEx</a:t>
            </a:r>
          </a:p>
          <a:p>
            <a:pPr>
              <a:defRPr sz="950" b="1">
                <a:solidFill>
                  <a:srgbClr val="334155"/>
                </a:solidFill>
              </a:defRPr>
            </a:pPr>
            <a:r>
              <a:t>💬 1-Sentence Meaning: 'PI measures our bang-for-the-buck: a score of 2.10x means for every ₹1.00 we invest today, we get back ₹2.10 in total value.'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8. Discounted Payback Period: 7 Years</a:t>
            </a:r>
          </a:p>
          <a:p>
            <a:pPr>
              <a:defRPr sz="950">
                <a:solidFill>
                  <a:srgbClr val="2563EB"/>
                </a:solidFill>
              </a:defRPr>
            </a:pPr>
            <a:r>
              <a:t>Formula: The exact year where Cumulative Discounted Cash Flow = 0</a:t>
            </a:r>
          </a:p>
          <a:p>
            <a:pPr>
              <a:spcAft>
                <a:spcPts val="1200"/>
              </a:spcAft>
              <a:defRPr sz="950" b="1">
                <a:solidFill>
                  <a:srgbClr val="334155"/>
                </a:solidFill>
              </a:defRPr>
            </a:pPr>
            <a:r>
              <a:t>💬 1-Sentence Meaning: 'This tells us how many years (7 years) it takes to fully recover our initial ₹250 Crore construction loan before we enter 13 years of 100% pure profit.'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📊 Cash Flow Waterfall Breakdown: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• Year 0: -₹250 Cr initial capital construction outflow.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• Years 1-6: +₹46.7 Cr/yr net cash inflow paying down initial capital.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• Year 7: Debt fully recovered (Cumulative Cash Flow crosses ₹0).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• Years 8-20: 13 continuous years generating pure shareholder profit.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Helvetica"/>
              </a:defRPr>
            </a:pPr>
            <a:r>
              <a:t>FINANCIAL ENGINEERING FINAL PROJECT</a:t>
            </a:r>
          </a:p>
          <a:p>
            <a:pPr>
              <a:defRPr sz="2500" b="1">
                <a:solidFill>
                  <a:srgbClr val="0F172A"/>
                </a:solidFill>
                <a:latin typeface="Helvetica"/>
              </a:defRPr>
            </a:pPr>
            <a:r>
              <a:t>Analysis 2: Project Finance Debt Structuring &amp; Bank Loan DSCR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172A"/>
                </a:solidFill>
              </a:defRPr>
            </a:pPr>
            <a:r>
              <a:t>🏦 70:30 Debt-to-Equity Capital Structure</a:t>
            </a:r>
          </a:p>
          <a:p>
            <a:pPr>
              <a:defRPr b="1" sz="1050">
                <a:solidFill>
                  <a:srgbClr val="2563EB"/>
                </a:solidFill>
              </a:defRPr>
            </a:pPr>
            <a:r>
              <a:t>Bank Debt (70%):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₹ 175.0 Crores borrowed from institutional lenders (SBI, IREDA, PFC).</a:t>
            </a:r>
          </a:p>
          <a:p>
            <a:pPr>
              <a:defRPr b="1" sz="1050">
                <a:solidFill>
                  <a:srgbClr val="2563EB"/>
                </a:solidFill>
              </a:defRPr>
            </a:pPr>
            <a:r>
              <a:t>Sponsor Equity (30%):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₹ 75.0 Crores invested by developer equity shareholders.</a:t>
            </a:r>
          </a:p>
          <a:p>
            <a:pPr>
              <a:defRPr b="1" sz="1050">
                <a:solidFill>
                  <a:srgbClr val="2563EB"/>
                </a:solidFill>
              </a:defRPr>
            </a:pPr>
            <a:r>
              <a:t>Loan Term: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12-Year Amortization @ 8.50% annual commercial interest rate.</a:t>
            </a:r>
          </a:p>
          <a:p>
            <a:pPr>
              <a:defRPr b="1" sz="1050">
                <a:solidFill>
                  <a:srgbClr val="2563EB"/>
                </a:solidFill>
              </a:defRPr>
            </a:pPr>
            <a:r>
              <a:t>Annual Debt Service: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Equal Principal Amortization (₹14.58 Cr/yr) + Declining Interest.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2563EB"/>
                </a:solidFill>
              </a:defRPr>
            </a:pPr>
            <a:r>
              <a:t>📊 Debt Service Coverage Ratio (DSCR)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Formula: DSCR_t = Cash Flow Available for Debt / Annual (Principal + Interest)</a:t>
            </a:r>
          </a:p>
          <a:p>
            <a:pPr>
              <a:spcAft>
                <a:spcPts val="1000"/>
              </a:spcAft>
              <a:defRPr sz="950" b="1">
                <a:solidFill>
                  <a:srgbClr val="334155"/>
                </a:solidFill>
              </a:defRPr>
            </a:pPr>
            <a:r>
              <a:t>💬 1-Sentence Meaning: 'DSCR measures if our annual cash flow is safely large enough to pay the bank loan installment without defaulting.'</a:t>
            </a:r>
          </a:p>
          <a:p>
            <a:pPr>
              <a:defRPr b="1" sz="1000">
                <a:solidFill>
                  <a:srgbClr val="16A34A"/>
                </a:solidFill>
              </a:defRPr>
            </a:pPr>
            <a:r>
              <a:t>• Rajasthan 100MW Solar Minimum DSCR: 1.54x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   ↳ Well above the banking safety threshold (&gt;= 1.30x), qualifying as 'Bankable'.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Average Project DSCR: 1.82x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   ↳ Generates an 82% cash flow buffer above required loan obligations.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Bank Default Risk: ZERO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   ↳ Project cash flows maintain complete solvency throughout the 12-year debt tenure.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Helvetica"/>
              </a:defRPr>
            </a:pPr>
            <a:r>
              <a:t>FINANCIAL ENGINEERING FINAL PROJECT</a:t>
            </a:r>
          </a:p>
          <a:p>
            <a:pPr>
              <a:defRPr sz="2500" b="1">
                <a:solidFill>
                  <a:srgbClr val="0F172A"/>
                </a:solidFill>
                <a:latin typeface="Helvetica"/>
              </a:defRPr>
            </a:pPr>
            <a:r>
              <a:t>Analysis 2: ESG Carbon Offset &amp; Green Revenue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6A34A"/>
                </a:solidFill>
              </a:defRPr>
            </a:pPr>
            <a:r>
              <a:t>🌿 Physical Decarbonization Metrics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Grid Baseline Factor: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Central Electricity Authority (CEA) India baseline: 0.82 tCO2 / MWh displaced.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Annual Carbon Abatement: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180,000 MWh × 0.82 = 147,600 Metric Tonnes of CO2 avoided per year.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20-Year Lifetime Impact: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Over 2.85 Million Metric Tonnes of CO2 emissions permanently averted from atmosphere.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Equivalency: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Equivalent to planting over 4.7 Million mature trees or removing 65,000 fossil cars from Indian roads annually.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172A"/>
                </a:solidFill>
              </a:defRPr>
            </a:pPr>
            <a:r>
              <a:t>💰 Green Revenue Expansion (CCTS / VCM)</a:t>
            </a:r>
          </a:p>
          <a:p>
            <a:pPr>
              <a:defRPr b="1" sz="1050">
                <a:solidFill>
                  <a:srgbClr val="0D9488"/>
                </a:solidFill>
              </a:defRPr>
            </a:pPr>
            <a:r>
              <a:t>Carbon Price Benchmark: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Modeled at ₹ 1,000 per Tonne of CO2 under India's Carbon Credit Trading Scheme.</a:t>
            </a:r>
          </a:p>
          <a:p>
            <a:pPr>
              <a:defRPr b="1" sz="1050">
                <a:solidFill>
                  <a:srgbClr val="0D9488"/>
                </a:solidFill>
              </a:defRPr>
            </a:pPr>
            <a:r>
              <a:t>Annual Carbon Cash Flow: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147,600 tonnes × ₹1,000 = +₹ 14.76 Crores / year extra cash income.</a:t>
            </a:r>
          </a:p>
          <a:p>
            <a:pPr>
              <a:defRPr b="1" sz="1050">
                <a:solidFill>
                  <a:srgbClr val="0D9488"/>
                </a:solidFill>
              </a:defRPr>
            </a:pPr>
            <a:r>
              <a:t>Revenue Expansion Impact: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Increases total annual project cash inflow by +21.3% over base power sales.</a:t>
            </a:r>
          </a:p>
          <a:p>
            <a:pPr>
              <a:defRPr b="1" sz="1050">
                <a:solidFill>
                  <a:srgbClr val="0D9488"/>
                </a:solidFill>
              </a:defRPr>
            </a:pPr>
            <a:r>
              <a:t>Financial Valuation Uplift: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Boosts Project IRR from 18.52% up to 21.40%, significantly expanding equity returns.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Helvetica"/>
              </a:defRPr>
            </a:pPr>
            <a:r>
              <a:t>FINANCIAL ENGINEERING FINAL PROJECT</a:t>
            </a:r>
          </a:p>
          <a:p>
            <a:pPr>
              <a:defRPr sz="2500" b="1">
                <a:solidFill>
                  <a:srgbClr val="0F172A"/>
                </a:solidFill>
                <a:latin typeface="Helvetica"/>
              </a:defRPr>
            </a:pPr>
            <a:r>
              <a:t>Analysis 3: Stochastic Monte Carlo Simulation (5,000 Runs)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What is Monte Carlo Simulation?</a:t>
            </a:r>
          </a:p>
          <a:p>
            <a:pPr>
              <a:spcAft>
                <a:spcPts val="1200"/>
              </a:spcAft>
              <a:defRPr sz="1000" b="1">
                <a:solidFill>
                  <a:srgbClr val="2563EB"/>
                </a:solidFill>
              </a:defRPr>
            </a:pPr>
            <a:r>
              <a:t>💬 1-Sentence Meaning: 'Instead of guessing one static future, the computer rolls the dice 5,000 times with bad weather, rising costs, and price drops to prove we still won't lose money.'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Why Do We Need It?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Static DCF assumes electricity tariffs and costs never vary for 20 years.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Monte Carlo replaces static numbers with 5,000 randomized future market scenarios.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Vectorized execution discounts all 5,000 paths in under 50 milliseconds.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172A"/>
                </a:solidFill>
              </a:defRPr>
            </a:pPr>
            <a:r>
              <a:t>⚡ The 3 Randomized Shocks We Test:</a:t>
            </a:r>
          </a:p>
          <a:p>
            <a:pPr>
              <a:defRPr b="1" sz="1050">
                <a:solidFill>
                  <a:srgbClr val="0D9488"/>
                </a:solidFill>
              </a:defRPr>
            </a:pPr>
            <a:r>
              <a:t>1. Power Tariff Drops (±15%):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Simulates what happens if market electricity prices drop from ₹3.85 down to ₹3.20/unit.</a:t>
            </a:r>
          </a:p>
          <a:p>
            <a:pPr>
              <a:defRPr b="1" sz="1050">
                <a:solidFill>
                  <a:srgbClr val="0D9488"/>
                </a:solidFill>
              </a:defRPr>
            </a:pPr>
            <a:r>
              <a:t>2. Construction Cost Overruns (0% to +25%):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Simulates supply chain and equipment delays pushing CapEx from ₹250 Cr up to ₹310 Cr.</a:t>
            </a:r>
          </a:p>
          <a:p>
            <a:pPr>
              <a:defRPr b="1" sz="1050">
                <a:solidFill>
                  <a:srgbClr val="0D9488"/>
                </a:solidFill>
              </a:defRPr>
            </a:pPr>
            <a:r>
              <a:t>3. Inflation Spikes (1.5% to 4.5%):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Simulates rising labor and maintenance costs squeezing annual profit margins.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Helvetica"/>
              </a:defRPr>
            </a:pPr>
            <a:r>
              <a:t>FINANCIAL ENGINEERING FINAL PROJECT</a:t>
            </a:r>
          </a:p>
          <a:p>
            <a:pPr>
              <a:defRPr sz="2500" b="1">
                <a:solidFill>
                  <a:srgbClr val="0F172A"/>
                </a:solidFill>
                <a:latin typeface="Helvetica"/>
              </a:defRPr>
            </a:pPr>
            <a:r>
              <a:t>Analysis 3: Value-at-Risk &amp; 2D Sensitivity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6A34A"/>
                </a:solidFill>
              </a:defRPr>
            </a:pPr>
            <a:r>
              <a:t>95% Value-at-Risk (VaR)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Formula: The 5th percentile worst-case outcome across 5,000 simulations</a:t>
            </a:r>
          </a:p>
          <a:p>
            <a:pPr>
              <a:spcAft>
                <a:spcPts val="1000"/>
              </a:spcAft>
              <a:defRPr sz="950" b="1">
                <a:solidFill>
                  <a:srgbClr val="334155"/>
                </a:solidFill>
              </a:defRPr>
            </a:pPr>
            <a:r>
              <a:t>💬 1-Sentence Meaning: 'VaR tells us our financial safety net: in 95 out of 100 extreme market disasters, our project will still make at least ₹152.8 Crores in profit.'</a:t>
            </a:r>
          </a:p>
          <a:p>
            <a:pPr>
              <a:defRPr b="1" sz="1100">
                <a:solidFill>
                  <a:srgbClr val="16A34A"/>
                </a:solidFill>
              </a:defRPr>
            </a:pPr>
            <a:r>
              <a:t>Probability of Loss: 0.00%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💬 1-Sentence Meaning: 'Out of 5,000 random market combinations, not a single simulated future resulted in negative NPV.'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2D Sensitivity Matrix Heatmap</a:t>
            </a:r>
          </a:p>
          <a:p>
            <a:pPr>
              <a:defRPr sz="950">
                <a:solidFill>
                  <a:srgbClr val="2563EB"/>
                </a:solidFill>
              </a:defRPr>
            </a:pPr>
            <a:r>
              <a:t>Formula: 5 × 5 Matrix Testing PPA Tariff (₹2.90–₹4.80) vs WACC (6%–12%)</a:t>
            </a:r>
          </a:p>
          <a:p>
            <a:pPr>
              <a:spcAft>
                <a:spcPts val="800"/>
              </a:spcAft>
              <a:defRPr sz="950" b="1">
                <a:solidFill>
                  <a:srgbClr val="334155"/>
                </a:solidFill>
              </a:defRPr>
            </a:pPr>
            <a:r>
              <a:t>💬 1-Sentence Meaning: 'The heatmap is a color-coded traffic light showing exactly how high interest rates or how low electricity prices can go before the project turns red (losses).'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Commercial Value for CFO: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• Green Zone: Profitable contract terms.</a:t>
            </a:r>
            <a:br/>
            <a:r>
              <a:t>• Red Zone: Terms that result in financial distress.</a:t>
            </a:r>
            <a:br/>
            <a:r>
              <a:t>• Decision: Guides contract tariff negotiation.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Helvetica"/>
              </a:defRPr>
            </a:pPr>
            <a:r>
              <a:t>FINANCIAL ENGINEERING FINAL PROJECT</a:t>
            </a:r>
          </a:p>
          <a:p>
            <a:pPr>
              <a:defRPr sz="2500" b="1">
                <a:solidFill>
                  <a:srgbClr val="0F172A"/>
                </a:solidFill>
                <a:latin typeface="Helvetica"/>
              </a:defRPr>
            </a:pPr>
            <a:r>
              <a:t>Analysis 4: Multi-Asset Clean Energy Portfolio Optimizer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0F172A"/>
                </a:solidFill>
              </a:defRPr>
            </a:pPr>
            <a:r>
              <a:t>📈 Markowitz Efficient Frontier in Energy</a:t>
            </a:r>
          </a:p>
          <a:p>
            <a:pPr>
              <a:spcAft>
                <a:spcPts val="1000"/>
              </a:spcAft>
              <a:defRPr sz="950" b="1">
                <a:solidFill>
                  <a:srgbClr val="2563EB"/>
                </a:solidFill>
              </a:defRPr>
            </a:pPr>
            <a:r>
              <a:t>💬 1-Sentence Meaning: 'Instead of putting all money in one solar farm, we balance investments across Solar, Wind, and Batteries so daytime sun and nighttime wind balance each other perfectly.'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Negative Correlation Benefit: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Solar generates during peak daylight; Wind peaks at night/monsoon. Their correlation (-0.25) significantly cuts portfolio risk.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Battery Storage Integration: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Batteries absorb peak noon solar power and discharge during evening peak tariff hours.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Optimal Risk-Adjusted Allocation: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45% Solar + 25% Wind + 20% Hybrid BESS + 10% Hydro Storage produces a superior Sharpe ratio of 1.48.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2563EB"/>
                </a:solidFill>
              </a:defRPr>
            </a:pPr>
            <a:r>
              <a:t>📊 Optimal Portfolio Performance (₹1,000 Cr Fund)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Blended Portfolio IRR: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↳ 14.85% (Consistent multi-asset annual return)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Portfolio Risk / Volatility: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↳ 6.85% (Drastically lower than standalone Wind at 14.5%)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Sharpe Ratio: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↳ 1.48 (Exceptional risk-adjusted excess return)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Diversification Premium: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↳ Reduces probability of negative annual cash flow to ZERO across entire 25-year fund lifecycle.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Helvetica"/>
              </a:defRPr>
            </a:pPr>
            <a:r>
              <a:t>FINANCIAL ENGINEERING FINAL PROJECT</a:t>
            </a:r>
          </a:p>
          <a:p>
            <a:pPr>
              <a:defRPr sz="2500" b="1">
                <a:solidFill>
                  <a:srgbClr val="0F172A"/>
                </a:solidFill>
                <a:latin typeface="Helvetica"/>
              </a:defRPr>
            </a:pPr>
            <a:r>
              <a:t>System Architecture &amp; High-Performance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🖥️ Streamlit Cloud UI</a:t>
            </a:r>
          </a:p>
          <a:p>
            <a:pPr>
              <a:spcAft>
                <a:spcPts val="1000"/>
              </a:spcAft>
              <a:defRPr sz="1000" b="1">
                <a:solidFill>
                  <a:srgbClr val="0D9488"/>
                </a:solidFill>
              </a:defRPr>
            </a:pPr>
            <a:r>
              <a:t>Responsive Dashboard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6 multi-page analytical tabs</a:t>
            </a:r>
            <a:br/>
            <a:r>
              <a:t>• Real-time reactive sliders</a:t>
            </a:r>
            <a:br/>
            <a:r>
              <a:t>• Automated Investment Memo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📈 Visual Analytics</a:t>
            </a:r>
          </a:p>
          <a:p>
            <a:pPr>
              <a:spcAft>
                <a:spcPts val="1000"/>
              </a:spcAft>
              <a:defRPr sz="1000" b="1">
                <a:solidFill>
                  <a:srgbClr val="0D9488"/>
                </a:solidFill>
              </a:defRPr>
            </a:pPr>
            <a:r>
              <a:t>Plotly Graph Objects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Cash Flow Waterfall</a:t>
            </a:r>
            <a:br/>
            <a:r>
              <a:t>• 5,000-scenario histogram</a:t>
            </a:r>
            <a:br/>
            <a:r>
              <a:t>• Markowitz Efficient Frontier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⚡ Financial Core</a:t>
            </a:r>
          </a:p>
          <a:p>
            <a:pPr>
              <a:spcAft>
                <a:spcPts val="1000"/>
              </a:spcAft>
              <a:defRPr sz="1000" b="1">
                <a:solidFill>
                  <a:srgbClr val="0D9488"/>
                </a:solidFill>
              </a:defRPr>
            </a:pPr>
            <a:r>
              <a:t>NumPy &amp; SciPy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Multi-year matrix discounting</a:t>
            </a:r>
            <a:br/>
            <a:r>
              <a:t>• Brent's Numerical Root Solver</a:t>
            </a:r>
            <a:br/>
            <a:r>
              <a:t>• Bank loan amortization DSCR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🚀 GPU Acceleration</a:t>
            </a:r>
          </a:p>
          <a:p>
            <a:pPr>
              <a:spcAft>
                <a:spcPts val="1000"/>
              </a:spcAft>
              <a:defRPr sz="1000" b="1">
                <a:solidFill>
                  <a:srgbClr val="0D9488"/>
                </a:solidFill>
              </a:defRPr>
            </a:pPr>
            <a:r>
              <a:t>PyTorch CUDA Architecture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Scalable to 1,000,000 paths</a:t>
            </a:r>
            <a:br/>
            <a:r>
              <a:t>• Auto-detects NVIDIA GPUs</a:t>
            </a:r>
            <a:br/>
            <a:r>
              <a:t>• Sub-millisecond tensor batch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Helvetica"/>
              </a:defRPr>
            </a:pPr>
            <a:r>
              <a:t>FINANCIAL ENGINEERING FINAL PROJECT</a:t>
            </a:r>
          </a:p>
          <a:p>
            <a:pPr>
              <a:defRPr sz="2500" b="1">
                <a:solidFill>
                  <a:srgbClr val="0F172A"/>
                </a:solidFill>
                <a:latin typeface="Helvetica"/>
              </a:defRPr>
            </a:pPr>
            <a:r>
              <a:t>Final Review Academic Defense &amp; Live System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0FF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A34A"/>
                </a:solidFill>
              </a:defRPr>
            </a:pPr>
            <a:r>
              <a:t>🎯 End-Semester Accomplishments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✔ Expanded Dataset: 12 clean tech assets (Solar, Wind, Hybrid BESS, Hydro, Desalination).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✔ Analysis 1: Multi-Stage DCF (NPV +₹275.5 Cr, IRR 18.52%, LCOE ₹1.99/unit).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✔ Analysis 2: Project Finance Debt Amortization (DSCR 1.54x) &amp; ESG Carbon Offsets.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✔ Analysis 3: 5,000-Scenario Monte Carlo Risk Engine &amp; 2D Sensitivity Heatmap.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✔ Analysis 4: Markowitz Portfolio Optimizer with interactive Efficient Frontier.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🌐 Live System Demonstration</a:t>
            </a:r>
          </a:p>
          <a:p>
            <a:pPr>
              <a:spcAft>
                <a:spcPts val="1200"/>
              </a:spcAft>
              <a:defRPr sz="1000">
                <a:solidFill>
                  <a:srgbClr val="334155"/>
                </a:solidFill>
              </a:defRPr>
            </a:pPr>
            <a:r>
              <a:t>A CFO-grade quantitative platform combining data science, AI high-speed simulation, and corporate financial engineering.</a:t>
            </a:r>
          </a:p>
          <a:p>
            <a:pPr>
              <a:spcAft>
                <a:spcPts val="200"/>
              </a:spcAft>
              <a:defRPr sz="1050" b="1">
                <a:solidFill>
                  <a:srgbClr val="0D9488"/>
                </a:solidFill>
              </a:defRPr>
            </a:pPr>
            <a:r>
              <a:t>LIVE CLOUD DEPLOYED WEB DASHBOARD:</a:t>
            </a:r>
          </a:p>
          <a:p>
            <a:pPr>
              <a:spcAft>
                <a:spcPts val="1400"/>
              </a:spcAft>
              <a:defRPr sz="1100" b="1">
                <a:solidFill>
                  <a:srgbClr val="0F172A"/>
                </a:solidFill>
              </a:defRPr>
            </a:pPr>
            <a:r>
              <a:t>https://capital-budgeting-project-karthickruban.streamlit.app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Thank you, Sir! We are ready for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